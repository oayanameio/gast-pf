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4B5F6"/>
    <a:srgbClr val="C8E6C9"/>
    <a:srgbClr val="E0E0E0"/>
    <a:srgbClr val="FFB74D"/>
    <a:srgbClr val="D4F2FC"/>
    <a:srgbClr val="FAE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AF866-E753-419C-82C4-4C1739B1EA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0D350-9A09-4B69-B556-588BA93485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0D350-9A09-4B69-B556-588BA93485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512D-3941-4DA4-96CB-1C410DD1F1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4EF6-39A2-4A6A-885B-697CBA7A35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512D-3941-4DA4-96CB-1C410DD1F1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4EF6-39A2-4A6A-885B-697CBA7A35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512D-3941-4DA4-96CB-1C410DD1F1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4EF6-39A2-4A6A-885B-697CBA7A35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512D-3941-4DA4-96CB-1C410DD1F1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4EF6-39A2-4A6A-885B-697CBA7A35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512D-3941-4DA4-96CB-1C410DD1F1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4EF6-39A2-4A6A-885B-697CBA7A35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512D-3941-4DA4-96CB-1C410DD1F1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4EF6-39A2-4A6A-885B-697CBA7A35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512D-3941-4DA4-96CB-1C410DD1F1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4EF6-39A2-4A6A-885B-697CBA7A35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512D-3941-4DA4-96CB-1C410DD1F1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4EF6-39A2-4A6A-885B-697CBA7A35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512D-3941-4DA4-96CB-1C410DD1F1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4EF6-39A2-4A6A-885B-697CBA7A35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512D-3941-4DA4-96CB-1C410DD1F1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4EF6-39A2-4A6A-885B-697CBA7A35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512D-3941-4DA4-96CB-1C410DD1F1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4EF6-39A2-4A6A-885B-697CBA7A35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D7512D-3941-4DA4-96CB-1C410DD1F1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ED4EF6-39A2-4A6A-885B-697CBA7A35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1924050" y="700405"/>
            <a:ext cx="8066405" cy="2034540"/>
          </a:xfrm>
          <a:prstGeom prst="roundRect">
            <a:avLst>
              <a:gd name="adj" fmla="val 7926"/>
            </a:avLst>
          </a:prstGeom>
          <a:solidFill>
            <a:srgbClr val="D4F2FC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002030" y="1553845"/>
            <a:ext cx="713105" cy="678815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50800" dist="38100" dir="2700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Input</a:t>
            </a:r>
            <a:endParaRPr lang="en-US" altLang="zh-CN"/>
          </a:p>
        </p:txBody>
      </p:sp>
      <p:cxnSp>
        <p:nvCxnSpPr>
          <p:cNvPr id="10" name="直接箭头连接符 9"/>
          <p:cNvCxnSpPr>
            <a:stCxn id="7" idx="3"/>
            <a:endCxn id="12" idx="0"/>
          </p:cNvCxnSpPr>
          <p:nvPr/>
        </p:nvCxnSpPr>
        <p:spPr>
          <a:xfrm>
            <a:off x="1714830" y="1893702"/>
            <a:ext cx="487045" cy="508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 rot="16200000">
            <a:off x="1991222" y="1835010"/>
            <a:ext cx="549965" cy="127544"/>
          </a:xfrm>
          <a:prstGeom prst="rect">
            <a:avLst/>
          </a:prstGeom>
          <a:solidFill>
            <a:srgbClr val="C8E6C9"/>
          </a:solidFill>
          <a:ln>
            <a:noFill/>
          </a:ln>
          <a:effectLst>
            <a:outerShdw blurRad="50800" dist="38100" dir="2700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r>
              <a:rPr sz="600" b="1">
                <a:solidFill>
                  <a:srgbClr val="1A1A1A"/>
                </a:solidFill>
              </a:rPr>
              <a:t>feat</a:t>
            </a:r>
          </a:p>
        </p:txBody>
      </p:sp>
      <p:cxnSp>
        <p:nvCxnSpPr>
          <p:cNvPr id="16" name="直接箭头连接符 15"/>
          <p:cNvCxnSpPr>
            <a:stCxn id="12" idx="2"/>
            <a:endCxn id="17" idx="1"/>
          </p:cNvCxnSpPr>
          <p:nvPr/>
        </p:nvCxnSpPr>
        <p:spPr>
          <a:xfrm flipV="1">
            <a:off x="2329977" y="1898781"/>
            <a:ext cx="535735" cy="1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/>
          <p:cNvSpPr/>
          <p:nvPr/>
        </p:nvSpPr>
        <p:spPr>
          <a:xfrm>
            <a:off x="2865712" y="1686747"/>
            <a:ext cx="1331955" cy="424068"/>
          </a:xfrm>
          <a:prstGeom prst="roundRect">
            <a:avLst/>
          </a:prstGeom>
          <a:solidFill>
            <a:srgbClr val="FFB74D"/>
          </a:solidFill>
          <a:ln>
            <a:noFill/>
          </a:ln>
          <a:effectLst>
            <a:outerShdw blurRad="50800" dist="38100" dir="2700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1A1A1A"/>
                </a:solidFill>
              </a:rPr>
              <a:t>GERE</a:t>
            </a:r>
          </a:p>
          <a:p>
            <a:pPr algn="ctr"/>
            <a:r>
              <a:rPr sz="650" b="0">
                <a:solidFill>
                  <a:srgbClr val="1A1A1A"/>
                </a:solidFill>
              </a:rPr>
              <a:t>geometry-evidence</a:t>
            </a:r>
          </a:p>
          <a:p>
            <a:pPr algn="ctr"/>
            <a:r>
              <a:rPr sz="650" b="0">
                <a:solidFill>
                  <a:srgbClr val="1A1A1A"/>
                </a:solidFill>
              </a:rPr>
              <a:t>relational encoding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2866390" y="998855"/>
            <a:ext cx="4919980" cy="3429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1A1A1A"/>
                </a:solidFill>
              </a:rPr>
              <a:t>Observation Evidence State (OES): eligibility s · age a · reliability r · learnable τ</a:t>
            </a:r>
          </a:p>
        </p:txBody>
      </p:sp>
      <p:cxnSp>
        <p:nvCxnSpPr>
          <p:cNvPr id="28" name="直接箭头连接符 27"/>
          <p:cNvCxnSpPr>
            <a:stCxn id="17" idx="3"/>
            <a:endCxn id="33" idx="1"/>
          </p:cNvCxnSpPr>
          <p:nvPr/>
        </p:nvCxnSpPr>
        <p:spPr>
          <a:xfrm>
            <a:off x="4198302" y="1898781"/>
            <a:ext cx="387350" cy="127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/>
          <p:cNvSpPr/>
          <p:nvPr/>
        </p:nvSpPr>
        <p:spPr>
          <a:xfrm>
            <a:off x="4585057" y="1688017"/>
            <a:ext cx="1331955" cy="424068"/>
          </a:xfrm>
          <a:prstGeom prst="roundRect">
            <a:avLst/>
          </a:prstGeom>
          <a:solidFill>
            <a:srgbClr val="64B5F6"/>
          </a:solidFill>
          <a:ln>
            <a:noFill/>
          </a:ln>
          <a:effectLst>
            <a:outerShdw blurRad="50800" dist="38100" dir="2700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1A1A1A"/>
                </a:solidFill>
              </a:rPr>
              <a:t>RMCM</a:t>
            </a:r>
          </a:p>
          <a:p>
            <a:pPr algn="ctr"/>
            <a:r>
              <a:rPr sz="650" b="0">
                <a:solidFill>
                  <a:srgbClr val="1A1A1A"/>
                </a:solidFill>
              </a:rPr>
              <a:t>reliability-modulated</a:t>
            </a:r>
          </a:p>
          <a:p>
            <a:pPr algn="ctr"/>
            <a:r>
              <a:rPr sz="650" b="0">
                <a:solidFill>
                  <a:srgbClr val="1A1A1A"/>
                </a:solidFill>
              </a:rPr>
              <a:t>causal Mamba ×4</a:t>
            </a:r>
          </a:p>
        </p:txBody>
      </p:sp>
      <p:cxnSp>
        <p:nvCxnSpPr>
          <p:cNvPr id="38" name="直接箭头连接符 37"/>
          <p:cNvCxnSpPr>
            <a:stCxn id="33" idx="3"/>
            <a:endCxn id="42" idx="1"/>
          </p:cNvCxnSpPr>
          <p:nvPr/>
        </p:nvCxnSpPr>
        <p:spPr>
          <a:xfrm flipV="1">
            <a:off x="5917647" y="1898146"/>
            <a:ext cx="535940" cy="190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/>
          <p:cNvSpPr/>
          <p:nvPr/>
        </p:nvSpPr>
        <p:spPr>
          <a:xfrm>
            <a:off x="6453557" y="1686112"/>
            <a:ext cx="1331955" cy="424068"/>
          </a:xfrm>
          <a:prstGeom prst="roundRect">
            <a:avLst/>
          </a:prstGeom>
          <a:solidFill>
            <a:srgbClr val="FFB74D"/>
          </a:solidFill>
          <a:ln>
            <a:noFill/>
          </a:ln>
          <a:effectLst>
            <a:outerShdw blurRad="50800" dist="38100" dir="2700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1A1A1A"/>
                </a:solidFill>
              </a:rPr>
              <a:t>EWSA</a:t>
            </a:r>
          </a:p>
          <a:p>
            <a:pPr algn="ctr"/>
            <a:r>
              <a:rPr sz="650" b="0">
                <a:solidFill>
                  <a:srgbClr val="1A1A1A"/>
                </a:solidFill>
              </a:rPr>
              <a:t>evidence-weighted</a:t>
            </a:r>
          </a:p>
          <a:p>
            <a:pPr algn="ctr"/>
            <a:r>
              <a:rPr sz="650" b="0">
                <a:solidFill>
                  <a:srgbClr val="1A1A1A"/>
                </a:solidFill>
              </a:rPr>
              <a:t>state aggregation</a:t>
            </a:r>
          </a:p>
        </p:txBody>
      </p:sp>
      <p:cxnSp>
        <p:nvCxnSpPr>
          <p:cNvPr id="43" name="直接箭头连接符 42"/>
          <p:cNvCxnSpPr>
            <a:stCxn id="42" idx="3"/>
            <a:endCxn id="46" idx="0"/>
          </p:cNvCxnSpPr>
          <p:nvPr/>
        </p:nvCxnSpPr>
        <p:spPr>
          <a:xfrm>
            <a:off x="7785512" y="1898146"/>
            <a:ext cx="370205" cy="63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 rot="16200000">
            <a:off x="7944530" y="1835139"/>
            <a:ext cx="549965" cy="127544"/>
          </a:xfrm>
          <a:prstGeom prst="rect">
            <a:avLst/>
          </a:prstGeom>
          <a:solidFill>
            <a:srgbClr val="C8E6C9"/>
          </a:solidFill>
          <a:ln>
            <a:noFill/>
          </a:ln>
          <a:effectLst>
            <a:outerShdw blurRad="50800" dist="38100" dir="2700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r>
              <a:rPr sz="600" b="1">
                <a:solidFill>
                  <a:srgbClr val="1A1A1A"/>
                </a:solidFill>
              </a:rPr>
              <a:t>enc out</a:t>
            </a:r>
          </a:p>
        </p:txBody>
      </p:sp>
      <p:sp>
        <p:nvSpPr>
          <p:cNvPr id="57" name="矩形: 圆角 56"/>
          <p:cNvSpPr/>
          <p:nvPr/>
        </p:nvSpPr>
        <p:spPr>
          <a:xfrm>
            <a:off x="1924050" y="2985770"/>
            <a:ext cx="8067040" cy="2524760"/>
          </a:xfrm>
          <a:prstGeom prst="roundRect">
            <a:avLst>
              <a:gd name="adj" fmla="val 7926"/>
            </a:avLst>
          </a:prstGeom>
          <a:solidFill>
            <a:srgbClr val="FAECF8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2011680" y="3044952"/>
            <a:ext cx="3108960" cy="256032"/>
          </a:xfrm>
          <a:prstGeom prst="rect">
            <a:avLst/>
          </a:prstGeom>
          <a:noFill/>
        </p:spPr>
        <p:txBody>
          <a:bodyPr wrap="square" rtlCol="0" lIns="25400" rIns="25400" tIns="12700" bIns="12700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Decoder · Gap-Aware Goal Decoder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2011680" y="731520"/>
            <a:ext cx="2560320" cy="256032"/>
          </a:xfrm>
          <a:prstGeom prst="rect">
            <a:avLst/>
          </a:prstGeom>
          <a:noFill/>
        </p:spPr>
        <p:txBody>
          <a:bodyPr wrap="square" rtlCol="0" lIns="25400" rIns="25400" tIns="12700" bIns="12700">
            <a:noAutofit/>
          </a:bodyPr>
          <a:lstStyle/>
          <a:p>
            <a:r>
              <a:rPr sz="1100" b="1">
                <a:solidFill>
                  <a:srgbClr val="1A1A1A"/>
                </a:solidFill>
              </a:rPr>
              <a:t>Encoder · GAST Evidence-Conditioned</a:t>
            </a:r>
          </a:p>
        </p:txBody>
      </p:sp>
      <p:sp>
        <p:nvSpPr>
          <p:cNvPr id="2" name="矩形 1"/>
          <p:cNvSpPr/>
          <p:nvPr/>
        </p:nvSpPr>
        <p:spPr>
          <a:xfrm rot="16200000">
            <a:off x="1558925" y="4027805"/>
            <a:ext cx="1625600" cy="440055"/>
          </a:xfrm>
          <a:prstGeom prst="rect">
            <a:avLst/>
          </a:prstGeom>
          <a:solidFill>
            <a:srgbClr val="C8E6C9"/>
          </a:solidFill>
          <a:ln>
            <a:noFill/>
          </a:ln>
          <a:effectLst>
            <a:outerShdw blurRad="50800" dist="38100" dir="2700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r>
              <a:rPr sz="1000" b="1">
                <a:solidFill>
                  <a:srgbClr val="1A1A1A"/>
                </a:solidFill>
              </a:rPr>
              <a:t>GAST actor encoding  [B, N, d]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713480" y="3435350"/>
            <a:ext cx="3074035" cy="70104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lumMod val="65000"/>
                <a:lumOff val="3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r>
              <a:rPr sz="900" b="1">
                <a:solidFill>
                  <a:srgbClr val="1A1A1A"/>
                </a:solidFill>
              </a:rPr>
              <a:t>K = 20 Goal Queries</a:t>
            </a:r>
          </a:p>
          <a:p>
            <a:r>
              <a:rPr sz="900" b="1">
                <a:solidFill>
                  <a:srgbClr val="1A1A1A"/>
                </a:solidFill>
              </a:rPr>
              <a:t>(focal + anchor/gap + mode embed)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3713480" y="4401185"/>
            <a:ext cx="3074035" cy="70104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lumMod val="65000"/>
                <a:lumOff val="3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r>
              <a:rPr sz="1000" b="1">
                <a:solidFill>
                  <a:srgbClr val="1A1A1A"/>
                </a:solidFill>
              </a:rPr>
              <a:t>Actor–Context Cross-Attention ×2</a:t>
            </a:r>
          </a:p>
        </p:txBody>
      </p:sp>
      <p:cxnSp>
        <p:nvCxnSpPr>
          <p:cNvPr id="11" name="肘形连接符 10"/>
          <p:cNvCxnSpPr>
            <a:stCxn id="2" idx="2"/>
            <a:endCxn id="5" idx="1"/>
          </p:cNvCxnSpPr>
          <p:nvPr/>
        </p:nvCxnSpPr>
        <p:spPr>
          <a:xfrm flipV="1">
            <a:off x="2592070" y="3785870"/>
            <a:ext cx="1121410" cy="462280"/>
          </a:xfrm>
          <a:prstGeom prst="bentConnector3">
            <a:avLst>
              <a:gd name="adj1" fmla="val 50000"/>
            </a:avLst>
          </a:prstGeom>
          <a:ln w="127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stCxn id="2" idx="2"/>
            <a:endCxn id="9" idx="1"/>
          </p:cNvCxnSpPr>
          <p:nvPr/>
        </p:nvCxnSpPr>
        <p:spPr>
          <a:xfrm>
            <a:off x="2592070" y="4248150"/>
            <a:ext cx="1121410" cy="503555"/>
          </a:xfrm>
          <a:prstGeom prst="bentConnector3">
            <a:avLst>
              <a:gd name="adj1" fmla="val 50000"/>
            </a:avLst>
          </a:prstGeom>
          <a:ln w="127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8255000" y="3343910"/>
            <a:ext cx="999490" cy="18459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r>
              <a:rPr sz="900" b="1">
                <a:solidFill>
                  <a:srgbClr val="1A1A1A"/>
                </a:solidFill>
              </a:rPr>
              <a:t>Goal-Conditioned Heads</a:t>
            </a:r>
          </a:p>
          <a:p>
            <a:r>
              <a:rPr sz="900" b="1">
                <a:solidFill>
                  <a:srgbClr val="1A1A1A"/>
                </a:solidFill>
              </a:rPr>
              <a:t>endpoint Δg → time-conditioned trajectory</a:t>
            </a:r>
          </a:p>
        </p:txBody>
      </p:sp>
      <p:cxnSp>
        <p:nvCxnSpPr>
          <p:cNvPr id="20" name="肘形连接符 19"/>
          <p:cNvCxnSpPr>
            <a:stCxn id="5" idx="3"/>
            <a:endCxn id="15" idx="1"/>
          </p:cNvCxnSpPr>
          <p:nvPr/>
        </p:nvCxnSpPr>
        <p:spPr>
          <a:xfrm>
            <a:off x="6787515" y="3785870"/>
            <a:ext cx="1467485" cy="481330"/>
          </a:xfrm>
          <a:prstGeom prst="bentConnector3">
            <a:avLst>
              <a:gd name="adj1" fmla="val 50022"/>
            </a:avLst>
          </a:prstGeom>
          <a:ln w="127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9" idx="3"/>
            <a:endCxn id="15" idx="1"/>
          </p:cNvCxnSpPr>
          <p:nvPr/>
        </p:nvCxnSpPr>
        <p:spPr>
          <a:xfrm flipV="1">
            <a:off x="6787515" y="4267200"/>
            <a:ext cx="1467485" cy="484505"/>
          </a:xfrm>
          <a:prstGeom prst="bentConnector3">
            <a:avLst>
              <a:gd name="adj1" fmla="val 50022"/>
            </a:avLst>
          </a:prstGeom>
          <a:ln w="127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平行四边形 21"/>
          <p:cNvSpPr/>
          <p:nvPr/>
        </p:nvSpPr>
        <p:spPr>
          <a:xfrm>
            <a:off x="10469880" y="3999865"/>
            <a:ext cx="1131570" cy="534035"/>
          </a:xfrm>
          <a:prstGeom prst="parallelogram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r>
              <a:rPr sz="900" b="1">
                <a:solidFill>
                  <a:srgbClr val="1A1A1A"/>
                </a:solidFill>
              </a:rPr>
              <a:t>K futures ŷ·π·s</a:t>
            </a:r>
          </a:p>
        </p:txBody>
      </p:sp>
      <p:cxnSp>
        <p:nvCxnSpPr>
          <p:cNvPr id="23" name="直接箭头连接符 22"/>
          <p:cNvCxnSpPr>
            <a:stCxn id="15" idx="3"/>
            <a:endCxn id="22" idx="5"/>
          </p:cNvCxnSpPr>
          <p:nvPr/>
        </p:nvCxnSpPr>
        <p:spPr>
          <a:xfrm>
            <a:off x="9254490" y="4267200"/>
            <a:ext cx="1282065" cy="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61320" y="3127248"/>
            <a:ext cx="1280160" cy="402336"/>
          </a:xfrm>
          <a:prstGeom prst="rect">
            <a:avLst/>
          </a:prstGeom>
          <a:noFill/>
        </p:spPr>
        <p:txBody>
          <a:bodyPr wrap="square" rtlCol="0" lIns="25400" rIns="25400" tIns="12700" bIns="12700">
            <a:spAutoFit/>
          </a:bodyPr>
          <a:lstStyle/>
          <a:p>
            <a:r>
              <a:rPr sz="900" b="1">
                <a:solidFill>
                  <a:srgbClr val="1A1A1A"/>
                </a:solidFill>
              </a:rPr>
              <a:t>L_final</a:t>
            </a:r>
          </a:p>
          <a:p>
            <a:r>
              <a:rPr sz="900" b="1">
                <a:solidFill>
                  <a:srgbClr val="1A1A1A"/>
                </a:solidFill>
              </a:rPr>
              <a:t>(training only)</a:t>
            </a:r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11035665" y="3529330"/>
            <a:ext cx="635" cy="470535"/>
          </a:xfrm>
          <a:prstGeom prst="straightConnector1">
            <a:avLst/>
          </a:prstGeom>
          <a:ln w="12700" cap="flat">
            <a:solidFill>
              <a:srgbClr val="C0392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3568065" y="1315085"/>
            <a:ext cx="635" cy="372745"/>
          </a:xfrm>
          <a:prstGeom prst="straightConnector1">
            <a:avLst/>
          </a:prstGeom>
          <a:ln w="12700" cap="flat" cmpd="sng" algn="ctr">
            <a:solidFill>
              <a:schemeClr val="accent2">
                <a:lumMod val="40000"/>
                <a:lumOff val="60000"/>
              </a:schemeClr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endCxn id="33" idx="0"/>
          </p:cNvCxnSpPr>
          <p:nvPr/>
        </p:nvCxnSpPr>
        <p:spPr>
          <a:xfrm flipH="1">
            <a:off x="5251450" y="1354455"/>
            <a:ext cx="5715" cy="333375"/>
          </a:xfrm>
          <a:prstGeom prst="straightConnector1">
            <a:avLst/>
          </a:prstGeom>
          <a:ln w="12700" cap="flat" cmpd="sng" algn="ctr">
            <a:solidFill>
              <a:schemeClr val="accent2">
                <a:lumMod val="40000"/>
                <a:lumOff val="60000"/>
              </a:schemeClr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endCxn id="42" idx="0"/>
          </p:cNvCxnSpPr>
          <p:nvPr/>
        </p:nvCxnSpPr>
        <p:spPr>
          <a:xfrm flipH="1">
            <a:off x="7119620" y="1320165"/>
            <a:ext cx="1905" cy="365760"/>
          </a:xfrm>
          <a:prstGeom prst="straightConnector1">
            <a:avLst/>
          </a:prstGeom>
          <a:ln w="12700" cap="flat" cmpd="sng" algn="ctr">
            <a:solidFill>
              <a:schemeClr val="accent2">
                <a:lumMod val="40000"/>
                <a:lumOff val="60000"/>
              </a:schemeClr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圆角矩形 31"/>
          <p:cNvSpPr/>
          <p:nvPr/>
        </p:nvSpPr>
        <p:spPr>
          <a:xfrm>
            <a:off x="4273550" y="1454785"/>
            <a:ext cx="3700145" cy="1003300"/>
          </a:xfrm>
          <a:prstGeom prst="roundRect">
            <a:avLst/>
          </a:prstGeom>
          <a:noFill/>
          <a:ln w="12700" cmpd="sng">
            <a:solidFill>
              <a:srgbClr val="64B5F6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4584700" y="2233295"/>
            <a:ext cx="3201035" cy="224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900" b="1">
                <a:solidFill>
                  <a:srgbClr val="1A1A1A"/>
                </a:solidFill>
              </a:rPr>
              <a:t>ECTA · Evidence-Conditioned Causal Temporal Aggregation</a:t>
            </a:r>
            <a:endParaRPr lang="en-US" altLang="zh-CN" sz="1000" i="1">
              <a:solidFill>
                <a:schemeClr val="bg1">
                  <a:lumMod val="50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2377440" y="1984248"/>
            <a:ext cx="5843016" cy="2048256"/>
          </a:xfrm>
          <a:custGeom>
            <a:avLst/>
            <a:gdLst/>
            <a:ahLst/>
            <a:cxnLst/>
            <a:rect l="l" t="t" r="r" b="b"/>
            <a:pathLst>
              <a:path w="5843016" h="2048256">
                <a:moveTo>
                  <a:pt x="5843016" y="0"/>
                </a:moveTo>
                <a:lnTo>
                  <a:pt x="5843016" y="877824"/>
                </a:lnTo>
                <a:lnTo>
                  <a:pt x="0" y="877824"/>
                </a:lnTo>
                <a:lnTo>
                  <a:pt x="0" y="2048256"/>
                </a:lnTo>
              </a:path>
            </a:pathLst>
          </a:custGeom>
          <a:noFill/>
          <a:ln w="15875" cap="flat">
            <a:solidFill>
              <a:srgbClr val="0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1362456" y="1207008"/>
            <a:ext cx="1472184" cy="310896"/>
          </a:xfrm>
          <a:prstGeom prst="line">
            <a:avLst/>
          </a:prstGeom>
          <a:ln w="12700" cap="flat">
            <a:solidFill>
              <a:srgbClr val="6C8EB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828800" y="1243584"/>
            <a:ext cx="566928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700" b="0">
                <a:solidFill>
                  <a:srgbClr val="595959"/>
                </a:solidFill>
              </a:rPr>
              <a:t>masks (m, key-pad)</a:t>
            </a:r>
          </a:p>
        </p:txBody>
      </p:sp>
      <p:sp>
        <p:nvSpPr>
          <p:cNvPr id="4" name="EWSA-to-actor"/>
          <p:cNvSpPr/>
          <p:nvPr/>
        </p:nvSpPr>
        <p:spPr>
          <a:xfrm>
            <a:off x="2377440" y="2112264"/>
            <a:ext cx="6035040" cy="1911096"/>
          </a:xfrm>
          <a:custGeom>
            <a:avLst/>
            <a:gdLst/>
            <a:ahLst/>
            <a:cxnLst/>
            <a:rect l="l" t="t" r="r" b="b"/>
            <a:pathLst>
              <a:path w="6035040" h="1911096">
                <a:moveTo>
                  <a:pt x="5806439" y="0"/>
                </a:moveTo>
                <a:lnTo>
                  <a:pt x="6035040" y="0"/>
                </a:lnTo>
                <a:lnTo>
                  <a:pt x="6035040" y="749808"/>
                </a:lnTo>
                <a:lnTo>
                  <a:pt x="0" y="749808"/>
                </a:lnTo>
                <a:lnTo>
                  <a:pt x="0" y="1911096"/>
                </a:lnTo>
              </a:path>
            </a:pathLst>
          </a:custGeom>
          <a:noFill/>
          <a:ln w="15875" cap="flat">
            <a:solidFill>
              <a:srgbClr val="1A1A1A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Queries-to-Attn"/>
          <p:cNvCxnSpPr/>
          <p:nvPr/>
        </p:nvCxnSpPr>
        <p:spPr>
          <a:xfrm>
            <a:off x="5248656" y="4142232"/>
            <a:ext cx="0" cy="246888"/>
          </a:xfrm>
          <a:prstGeom prst="line">
            <a:avLst/>
          </a:prstGeom>
          <a:ln w="12700" cap="flat">
            <a:solidFill>
              <a:srgbClr val="1A1A1A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WPS 演示</Application>
  <PresentationFormat>宽屏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MS PGothic</vt:lpstr>
      <vt:lpstr>Monotype Corsiva</vt:lpstr>
      <vt:lpstr>Bell MT</vt:lpstr>
      <vt:lpstr>等线</vt:lpstr>
      <vt:lpstr>微软雅黑</vt:lpstr>
      <vt:lpstr>Arial Unicode MS</vt:lpstr>
      <vt:lpstr>等线 Light</vt:lpstr>
      <vt:lpstr>MS Gothic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 l</dc:creator>
  <cp:lastModifiedBy>碇真嗣</cp:lastModifiedBy>
  <cp:revision>169</cp:revision>
  <dcterms:created xsi:type="dcterms:W3CDTF">2026-10-24T09:15:00Z</dcterms:created>
  <dcterms:modified xsi:type="dcterms:W3CDTF">2026-10-27T03:54:35Z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39D4CCDD4BF04A678A89608E4B8A343E_12</vt:lpwstr>
  </property>
</Properties>
</file>